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Spline Sans"/>
      <p:bold r:id="rId14"/>
    </p:embeddedFont>
    <p:embeddedFont>
      <p:font typeface="Noto Sans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Barlow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Barlow-bold.fntdata"/><Relationship Id="rId23" Type="http://schemas.openxmlformats.org/officeDocument/2006/relationships/font" Target="fonts/Barlow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-boldItalic.fntdata"/><Relationship Id="rId25" Type="http://schemas.openxmlformats.org/officeDocument/2006/relationships/font" Target="fonts/Barlow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NotoSans-regular.fntdata"/><Relationship Id="rId14" Type="http://schemas.openxmlformats.org/officeDocument/2006/relationships/font" Target="fonts/SplineSans-bold.fntdata"/><Relationship Id="rId17" Type="http://schemas.openxmlformats.org/officeDocument/2006/relationships/font" Target="fonts/NotoSans-italic.fntdata"/><Relationship Id="rId16" Type="http://schemas.openxmlformats.org/officeDocument/2006/relationships/font" Target="fonts/NotoSans-bold.fntdata"/><Relationship Id="rId19" Type="http://schemas.openxmlformats.org/officeDocument/2006/relationships/font" Target="fonts/Inter-regular.fntdata"/><Relationship Id="rId18" Type="http://schemas.openxmlformats.org/officeDocument/2006/relationships/font" Target="fonts/Noto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28625" y="1070893"/>
            <a:ext cx="3929063" cy="548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Noto Sans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SICOF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28625" y="1762385"/>
            <a:ext cx="3929063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269"/>
              <a:buFont typeface="Noto Sans"/>
              <a:buNone/>
            </a:pPr>
            <a:r>
              <a:rPr b="0" i="0" lang="en-US" sz="1269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Sistema Inteligente de Classificação e Otimização Fiscal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28625" y="2528162"/>
            <a:ext cx="39290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Uma Plataforma baseada em IA Agêntica para Análise Automatizada de NF-e no Setor Público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28625" y="3378268"/>
            <a:ext cx="392906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232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584"/>
              <a:buFont typeface="Noto Sans"/>
              <a:buNone/>
            </a:pPr>
            <a:r>
              <a:rPr b="1" i="0" lang="en-US" sz="58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Grupo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28625" y="3564006"/>
            <a:ext cx="39290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Noto Sans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autonomia (3)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28625" y="3835468"/>
            <a:ext cx="392906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83"/>
              <a:buFont typeface="Noto Sans"/>
              <a:buNone/>
            </a:pPr>
            <a:r>
              <a:rPr b="1" i="0" lang="en-US" sz="683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Cláudio Teixeira</a:t>
            </a: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 (Líder)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28625" y="3995477"/>
            <a:ext cx="392906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Jorge Marcondes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28625" y="4155486"/>
            <a:ext cx="392906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Patrick Angrezani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179219" y="1571625"/>
            <a:ext cx="2714700" cy="2000100"/>
          </a:xfrm>
          <a:prstGeom prst="rect">
            <a:avLst/>
          </a:prstGeom>
          <a:solidFill>
            <a:srgbClr val="0F1E3A">
              <a:alpha val="49800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6525" y="1571699"/>
            <a:ext cx="2000100" cy="20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4677" y="3714582"/>
            <a:ext cx="1069508" cy="10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5848968" y="4135475"/>
            <a:ext cx="552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428625" y="764381"/>
            <a:ext cx="392906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8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6"/>
              <a:buFont typeface="Noto Sans"/>
              <a:buNone/>
            </a:pPr>
            <a:r>
              <a:rPr b="1" i="0" lang="en-US" sz="201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 Complexidade Fiscal e a Ineficiência Manual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28625" y="1750219"/>
            <a:ext cx="85725" cy="85725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42938" y="1721644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Processo Moroso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2938" y="1935956"/>
            <a:ext cx="37147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Classificação manual de NF-e é lenta, suscetível a erros e altamente dependente de conhecimento técnico especializado.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28625" y="2457450"/>
            <a:ext cx="85725" cy="85725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42938" y="2428875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Volume Exponencial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2938" y="2643188"/>
            <a:ext cx="37147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Aumento da digitalização e complexidade do sistema tributário brasileiro exigem soluções escaláveis e automatizadas.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28625" y="3164681"/>
            <a:ext cx="85725" cy="85725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42938" y="3136106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Riscos de Conformidade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2938" y="3350419"/>
            <a:ext cx="37147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Dificuldade em manter conformidade fiscal e identificar riscos tributários em tempo hábil.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28625" y="3871913"/>
            <a:ext cx="85725" cy="85725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42938" y="3843338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Impacto na Governança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42938" y="4057650"/>
            <a:ext cx="37147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Prejuízo à transparência, rastreabilidade e eficiência na gestão de grandes bases de dados fiscais.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393531" y="1571625"/>
            <a:ext cx="2571750" cy="2000250"/>
          </a:xfrm>
          <a:prstGeom prst="rect">
            <a:avLst/>
          </a:prstGeom>
          <a:solidFill>
            <a:srgbClr val="7B61FF">
              <a:alpha val="4705"/>
            </a:srgbClr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3531" y="1571625"/>
            <a:ext cx="2571750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428625" y="600075"/>
            <a:ext cx="828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8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6"/>
              <a:buFont typeface="Noto Sans"/>
              <a:buNone/>
            </a:pPr>
            <a:r>
              <a:rPr b="1" i="0" lang="en-US" sz="181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SICOF: Inteligência Artificial a Serviço da Gestão Fiscal</a:t>
            </a:r>
            <a:endParaRPr b="0" i="0" sz="18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28625" y="1042988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Solução híbrida que combina Machine Learning Supervisionado com Agentes de Linguagem Natural (LLMs) para automatizar análise fiscal.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28625" y="1671638"/>
            <a:ext cx="5572125" cy="1185863"/>
          </a:xfrm>
          <a:prstGeom prst="rect">
            <a:avLst/>
          </a:prstGeom>
          <a:solidFill>
            <a:srgbClr val="00D9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28625" y="1671638"/>
            <a:ext cx="28575" cy="1185863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00075" y="1843088"/>
            <a:ext cx="228600" cy="2286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00075" y="184308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00075" y="2157413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Classificação Automática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00075" y="2386013"/>
            <a:ext cx="522922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Identifica o tipo de operação (compra, venda, serviço) e estrutura os arquivos XML em banco de dados normalizado.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71500" y="3000375"/>
            <a:ext cx="5429250" cy="1185863"/>
          </a:xfrm>
          <a:prstGeom prst="rect">
            <a:avLst/>
          </a:prstGeom>
          <a:solidFill>
            <a:srgbClr val="7B61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71500" y="3000375"/>
            <a:ext cx="28575" cy="1185863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42950" y="3171825"/>
            <a:ext cx="228600" cy="2286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42950" y="31718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42950" y="3486150"/>
            <a:ext cx="5086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Categorização Semântica (LLM)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42950" y="3714750"/>
            <a:ext cx="50863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Utiliza OpenAI GPT via LangChain para agrupar documentos por similaridade contextual e aplicar semântica contábil.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28625" y="4329113"/>
            <a:ext cx="5572125" cy="1185863"/>
          </a:xfrm>
          <a:prstGeom prst="rect">
            <a:avLst/>
          </a:prstGeom>
          <a:solidFill>
            <a:srgbClr val="00D9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28625" y="4329113"/>
            <a:ext cx="28575" cy="1185863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00075" y="4500563"/>
            <a:ext cx="228600" cy="2286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00075" y="450056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00075" y="4814888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Customização Fiscal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00075" y="5043488"/>
            <a:ext cx="522922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Aplica regras tributárias específicas por ramo de atividade (Agronegócio, Indústria, Serviços), fornecendo diagnósticos automatizados.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286500" y="1671638"/>
            <a:ext cx="2428875" cy="2000250"/>
          </a:xfrm>
          <a:prstGeom prst="rect">
            <a:avLst/>
          </a:prstGeom>
          <a:solidFill>
            <a:srgbClr val="00D9FF">
              <a:alpha val="4705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71638"/>
            <a:ext cx="242887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1775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428625" y="600075"/>
            <a:ext cx="828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8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6"/>
              <a:buFont typeface="Noto Sans"/>
              <a:buNone/>
            </a:pPr>
            <a:r>
              <a:rPr b="1" i="0" lang="en-US" sz="181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Stack Técnico: Camadas Frontend, Backend e Inteligência</a:t>
            </a:r>
            <a:endParaRPr b="0" i="0" sz="18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28625" y="1257300"/>
            <a:ext cx="5572125" cy="729360"/>
          </a:xfrm>
          <a:prstGeom prst="rect">
            <a:avLst/>
          </a:prstGeom>
          <a:solidFill>
            <a:srgbClr val="00D9FF">
              <a:alpha val="7843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571500" y="1385888"/>
            <a:ext cx="52863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1. Frontend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71500" y="1532334"/>
            <a:ext cx="528637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Noto Sans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Streamlit Interface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71500" y="1700910"/>
            <a:ext cx="5286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Upload de XMLs, visualização de resultados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28625" y="2058098"/>
            <a:ext cx="5572125" cy="729360"/>
          </a:xfrm>
          <a:prstGeom prst="rect">
            <a:avLst/>
          </a:prstGeom>
          <a:solidFill>
            <a:srgbClr val="7B61FF">
              <a:alpha val="7843"/>
            </a:srgbClr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71500" y="2186685"/>
            <a:ext cx="52863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2. Backend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71500" y="2333132"/>
            <a:ext cx="528637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Noto Sans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FastAPI Core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71500" y="2501708"/>
            <a:ext cx="5286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Orquestração de pipeline, comunicação entre módulos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28625" y="2858895"/>
            <a:ext cx="5572125" cy="729360"/>
          </a:xfrm>
          <a:prstGeom prst="rect">
            <a:avLst/>
          </a:prstGeom>
          <a:solidFill>
            <a:srgbClr val="00D9FF">
              <a:alpha val="7843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71500" y="2987483"/>
            <a:ext cx="52863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3. Machine Learning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71500" y="3133930"/>
            <a:ext cx="528637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Noto Sans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RandomForest + IsolationForest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71500" y="3302505"/>
            <a:ext cx="5286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Classificação fiscal e detecção de anomalias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28625" y="3659693"/>
            <a:ext cx="5572125" cy="729360"/>
          </a:xfrm>
          <a:prstGeom prst="rect">
            <a:avLst/>
          </a:prstGeom>
          <a:solidFill>
            <a:srgbClr val="7B61FF">
              <a:alpha val="7843"/>
            </a:srgbClr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71500" y="3788280"/>
            <a:ext cx="52863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4. LLM Agent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71500" y="3934727"/>
            <a:ext cx="528637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Noto Sans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OpenAI GPT via LangChain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71500" y="4103303"/>
            <a:ext cx="5286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Categorização semântica e contextualização fiscal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28625" y="4574791"/>
            <a:ext cx="5572125" cy="300038"/>
          </a:xfrm>
          <a:prstGeom prst="rect">
            <a:avLst/>
          </a:prstGeom>
          <a:solidFill>
            <a:srgbClr val="00D9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28625" y="4574791"/>
            <a:ext cx="21431" cy="30003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28625" y="4574791"/>
            <a:ext cx="557212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02100" spcFirstLastPara="1" rIns="102100" wrap="square" tIns="10210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1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→ Próximo slide: Regras de Negócio, Deployment e Stack Tecnológico Completo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286500" y="1257300"/>
            <a:ext cx="2428875" cy="2714625"/>
          </a:xfrm>
          <a:prstGeom prst="rect">
            <a:avLst/>
          </a:prstGeom>
          <a:solidFill>
            <a:srgbClr val="00D9FF">
              <a:alpha val="4705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257300"/>
            <a:ext cx="2428875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428625" y="600075"/>
            <a:ext cx="8286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8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6"/>
              <a:buFont typeface="Noto Sans"/>
              <a:buNone/>
            </a:pPr>
            <a:r>
              <a:rPr b="1" i="0" lang="en-US" sz="191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Regras de Negócio, Deployment e </a:t>
            </a:r>
            <a:br>
              <a:rPr b="1" i="0" lang="en-US" sz="191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191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Stack Tecnológico Completo</a:t>
            </a:r>
            <a:endParaRPr b="0" i="0" sz="19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28625" y="1628775"/>
            <a:ext cx="4000500" cy="729360"/>
          </a:xfrm>
          <a:prstGeom prst="rect">
            <a:avLst/>
          </a:prstGeom>
          <a:solidFill>
            <a:srgbClr val="00D9FF">
              <a:alpha val="7843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71500" y="1757363"/>
            <a:ext cx="3714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5. Rules Engine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71500" y="1903809"/>
            <a:ext cx="371475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Noto Sans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Customização Fiscal (utils.py)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71500" y="2072385"/>
            <a:ext cx="37147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Validações por ramo de atividade, alertas automáticos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28625" y="2429573"/>
            <a:ext cx="4000500" cy="729360"/>
          </a:xfrm>
          <a:prstGeom prst="rect">
            <a:avLst/>
          </a:prstGeom>
          <a:solidFill>
            <a:srgbClr val="7B61FF">
              <a:alpha val="7843"/>
            </a:srgbClr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71500" y="2558160"/>
            <a:ext cx="3714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6. Deployment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71500" y="2704607"/>
            <a:ext cx="371475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Noto Sans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Google Cloud Run (Docker)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71500" y="2873183"/>
            <a:ext cx="37147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Escalabilidade horizontal, alta disponibilidade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28625" y="3344670"/>
            <a:ext cx="4000500" cy="980815"/>
          </a:xfrm>
          <a:prstGeom prst="rect">
            <a:avLst/>
          </a:prstGeom>
          <a:solidFill>
            <a:srgbClr val="00D9FF">
              <a:alpha val="2745"/>
            </a:srgbClr>
          </a:solidFill>
          <a:ln cap="flat" cmpd="sng" w="9525">
            <a:solidFill>
              <a:srgbClr val="00D9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42925" y="3458970"/>
            <a:ext cx="377190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Stack Tecnológico Completo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2925" y="3633992"/>
            <a:ext cx="3771900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• Python 3.12, scikit-learn, pandas, joblib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42925" y="3771147"/>
            <a:ext cx="3771900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• LangChain, OpenAI API, Pydantic, lxml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42925" y="3908301"/>
            <a:ext cx="3771900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• FastAPI, Streamlit, matplotlib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42925" y="4045455"/>
            <a:ext cx="3771900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• Google Cloud Run via Docker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714875" y="1628775"/>
            <a:ext cx="4000500" cy="2332323"/>
          </a:xfrm>
          <a:prstGeom prst="rect">
            <a:avLst/>
          </a:prstGeom>
          <a:solidFill>
            <a:srgbClr val="7B61FF">
              <a:alpha val="4705"/>
            </a:srgbClr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857750" y="1771650"/>
            <a:ext cx="3714750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Processo de Deploy em Nuvem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857750" y="2128838"/>
            <a:ext cx="71438" cy="7143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000625" y="2100263"/>
            <a:ext cx="35718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Passo 1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000625" y="2232422"/>
            <a:ext cx="357187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Criação do projeto e repositório no Artifact Registry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57750" y="2466715"/>
            <a:ext cx="71438" cy="7143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000625" y="2438140"/>
            <a:ext cx="35718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Passo 2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000625" y="2570299"/>
            <a:ext cx="357187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Construção da imagem Docker com código e dependências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857750" y="2804592"/>
            <a:ext cx="71438" cy="7143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000625" y="2776017"/>
            <a:ext cx="35718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Passo 3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000625" y="2908176"/>
            <a:ext cx="357187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Deploy automatizado via comando gcloud run deploy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857750" y="3142469"/>
            <a:ext cx="71438" cy="7143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000625" y="3113894"/>
            <a:ext cx="35718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Passo 4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000625" y="3246053"/>
            <a:ext cx="357187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Configuração da variável OPENAI_API_KEY no painel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857750" y="3480346"/>
            <a:ext cx="71438" cy="7143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000625" y="3451771"/>
            <a:ext cx="357187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534"/>
              <a:buFont typeface="Noto Sans"/>
              <a:buNone/>
            </a:pPr>
            <a:r>
              <a:rPr b="1" i="0" lang="en-US" sz="534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Passo 5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000625" y="3583930"/>
            <a:ext cx="357187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21"/>
              <a:buFont typeface="Noto Sans"/>
              <a:buNone/>
            </a:pP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Disponibilização de URL pública para execução e testes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714875" y="4075398"/>
            <a:ext cx="4000500" cy="485775"/>
          </a:xfrm>
          <a:prstGeom prst="rect">
            <a:avLst/>
          </a:prstGeom>
          <a:solidFill>
            <a:srgbClr val="00D9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714875" y="4075398"/>
            <a:ext cx="21431" cy="485775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829175" y="4189698"/>
            <a:ext cx="3771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584"/>
              <a:buFont typeface="Inter"/>
              <a:buNone/>
            </a:pPr>
            <a:r>
              <a:rPr b="1" i="0" lang="en-US" sz="584" u="none" cap="none" strike="noStrike">
                <a:solidFill>
                  <a:srgbClr val="00D9FF"/>
                </a:solidFill>
                <a:latin typeface="Inter"/>
                <a:ea typeface="Inter"/>
                <a:cs typeface="Inter"/>
                <a:sym typeface="Inter"/>
              </a:rPr>
              <a:t>Escalabilidade:</a:t>
            </a:r>
            <a:r>
              <a:rPr b="0" i="0" lang="en-US" sz="621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 Processamento simultâneo de centenas de notas fiscais com alto desempenho e escalabilidade horizontal.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20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428625" y="600075"/>
            <a:ext cx="828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8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6"/>
              <a:buFont typeface="Noto Sans"/>
              <a:buNone/>
            </a:pPr>
            <a:r>
              <a:rPr b="1" i="0" lang="en-US" sz="191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Transformação Digital da Gestão Tributária</a:t>
            </a:r>
            <a:endParaRPr b="0" i="0" sz="19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28625" y="1328738"/>
            <a:ext cx="4057650" cy="1371600"/>
          </a:xfrm>
          <a:prstGeom prst="rect">
            <a:avLst/>
          </a:prstGeom>
          <a:solidFill>
            <a:srgbClr val="00D9FF">
              <a:alpha val="2745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28650" y="1528763"/>
            <a:ext cx="285750" cy="2857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628650" y="152876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87"/>
              <a:buFont typeface="Noto Sans"/>
              <a:buNone/>
            </a:pPr>
            <a:r>
              <a:rPr b="1" i="0" lang="en-US" sz="987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⚡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28650" y="1928813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Eficiência Operacional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28650" y="2171700"/>
            <a:ext cx="36576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Automatização da leitura, classificação e arquivamento de NF-e, reduzindo tempo de processamento e carga de trabalho manual.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657725" y="1328738"/>
            <a:ext cx="4057650" cy="1371600"/>
          </a:xfrm>
          <a:prstGeom prst="rect">
            <a:avLst/>
          </a:prstGeom>
          <a:solidFill>
            <a:srgbClr val="7B61FF">
              <a:alpha val="2745"/>
            </a:srgbClr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857750" y="1528763"/>
            <a:ext cx="285750" cy="2857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857750" y="152876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87"/>
              <a:buFont typeface="Noto Sans"/>
              <a:buNone/>
            </a:pPr>
            <a:r>
              <a:rPr b="1" i="0" lang="en-US" sz="987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🛡️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857750" y="1928813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Redução de Riscos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857750" y="2171700"/>
            <a:ext cx="36576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Detecção precoce de inconsistências e anomalias fiscais, minimizando erros de conformidade e riscos tributários.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28625" y="2843213"/>
            <a:ext cx="4057650" cy="1371600"/>
          </a:xfrm>
          <a:prstGeom prst="rect">
            <a:avLst/>
          </a:prstGeom>
          <a:solidFill>
            <a:srgbClr val="00D9FF">
              <a:alpha val="2745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28650" y="3043238"/>
            <a:ext cx="285750" cy="2857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28650" y="304323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87"/>
              <a:buFont typeface="Noto Sans"/>
              <a:buNone/>
            </a:pPr>
            <a:r>
              <a:rPr b="1" i="0" lang="en-US" sz="987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📊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28650" y="3443288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Explicabilidade (IA Híbrida)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28650" y="3686175"/>
            <a:ext cx="36576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Relatórios rastreáveis e compreensíveis, unindo rigor estatístico com interpretação semântica em linguagem natural.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657725" y="2843213"/>
            <a:ext cx="4057650" cy="1371600"/>
          </a:xfrm>
          <a:prstGeom prst="rect">
            <a:avLst/>
          </a:prstGeom>
          <a:solidFill>
            <a:srgbClr val="7B61FF">
              <a:alpha val="2745"/>
            </a:srgbClr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857750" y="3043238"/>
            <a:ext cx="285750" cy="2857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857750" y="304323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87"/>
              <a:buFont typeface="Noto Sans"/>
              <a:buNone/>
            </a:pPr>
            <a:r>
              <a:rPr b="1" i="0" lang="en-US" sz="987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🔄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857750" y="3443288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Customização Adaptativa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857750" y="3686175"/>
            <a:ext cx="36576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Flexibilidade para se ajustar a diferentes regimes tributários e ramos de atividade, garantindo contextualização fiscal.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28625" y="4357688"/>
            <a:ext cx="8286750" cy="1221581"/>
          </a:xfrm>
          <a:prstGeom prst="rect">
            <a:avLst/>
          </a:prstGeom>
          <a:solidFill>
            <a:srgbClr val="00D9FF">
              <a:alpha val="2745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28650" y="4557713"/>
            <a:ext cx="285750" cy="2857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28650" y="455771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87"/>
              <a:buFont typeface="Noto Sans"/>
              <a:buNone/>
            </a:pPr>
            <a:r>
              <a:rPr b="1" i="0" lang="en-US" sz="987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🏛️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28650" y="4957763"/>
            <a:ext cx="7886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Governança Fiscal e Transparência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28650" y="5200650"/>
            <a:ext cx="788670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Fortalecimento da cultura de conformidade, transparência institucional e suporte à tomada de decisão em tempo real.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4" name="Google Shape;1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0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428625" y="600075"/>
            <a:ext cx="828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8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6"/>
              <a:buFont typeface="Noto Sans"/>
              <a:buNone/>
            </a:pPr>
            <a:r>
              <a:rPr b="1" i="0" lang="en-US" sz="191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Foco no Setor Público e em Grandes Volumes Fiscais</a:t>
            </a:r>
            <a:endParaRPr b="0" i="0" sz="19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28625" y="1328738"/>
            <a:ext cx="4000500" cy="1328738"/>
          </a:xfrm>
          <a:prstGeom prst="rect">
            <a:avLst/>
          </a:prstGeom>
          <a:solidFill>
            <a:srgbClr val="00D9FF">
              <a:alpha val="7843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28650" y="1528763"/>
            <a:ext cx="285750" cy="2857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28650" y="152876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28650" y="1900238"/>
            <a:ext cx="3600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Profissionais Públicos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28650" y="2128838"/>
            <a:ext cx="36004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Servidores de instituições públicas que lidam com alto volume de documentos fiscais.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28625" y="2800350"/>
            <a:ext cx="4000500" cy="1328738"/>
          </a:xfrm>
          <a:prstGeom prst="rect">
            <a:avLst/>
          </a:prstGeom>
          <a:solidFill>
            <a:srgbClr val="7B61FF">
              <a:alpha val="7843"/>
            </a:srgbClr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628650" y="3000375"/>
            <a:ext cx="285750" cy="2857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628650" y="30003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📊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28650" y="3371850"/>
            <a:ext cx="3600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Controladoria &amp; Compliance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28650" y="3600450"/>
            <a:ext cx="36004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Departamentos interessados em automatizar validação de informações fiscais e monitoramento de riscos.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28625" y="4271963"/>
            <a:ext cx="4000500" cy="1328738"/>
          </a:xfrm>
          <a:prstGeom prst="rect">
            <a:avLst/>
          </a:prstGeom>
          <a:solidFill>
            <a:srgbClr val="00D9FF">
              <a:alpha val="7843"/>
            </a:srgbClr>
          </a:solidFill>
          <a:ln cap="flat" cmpd="sng" w="95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28650" y="4471988"/>
            <a:ext cx="285750" cy="2857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28650" y="447198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28650" y="4843463"/>
            <a:ext cx="3600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Órgãos de Fiscalização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28650" y="5072063"/>
            <a:ext cx="36004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Receita Federal, SEFAZ, TCU e TCE que demandam transparência e eficiência na análise de dados.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714875" y="1328738"/>
            <a:ext cx="4000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Aplicações por Ramo de Atividade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714875" y="1821656"/>
            <a:ext cx="4000500" cy="530423"/>
          </a:xfrm>
          <a:prstGeom prst="rect">
            <a:avLst/>
          </a:prstGeom>
          <a:solidFill>
            <a:srgbClr val="00D9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714875" y="1821656"/>
            <a:ext cx="21431" cy="530423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972050" y="1935956"/>
            <a:ext cx="3629025" cy="3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Inter"/>
                <a:ea typeface="Inter"/>
                <a:cs typeface="Inter"/>
                <a:sym typeface="Inter"/>
              </a:rPr>
              <a:t>Agronegócio:</a:t>
            </a: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 Monitoramento de CFOPs específicos, cálculo de impostos com particularidades do setor.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714875" y="2494955"/>
            <a:ext cx="4000500" cy="530423"/>
          </a:xfrm>
          <a:prstGeom prst="rect">
            <a:avLst/>
          </a:prstGeom>
          <a:solidFill>
            <a:srgbClr val="7B61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714875" y="2494955"/>
            <a:ext cx="21431" cy="530423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972050" y="2609255"/>
            <a:ext cx="3629025" cy="3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Inter"/>
                <a:ea typeface="Inter"/>
                <a:cs typeface="Inter"/>
                <a:sym typeface="Inter"/>
              </a:rPr>
              <a:t>Indústria:</a:t>
            </a: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 Apurações de impostos específicos (IPI, Substituição Tributária), cálculo de custos de produção.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714875" y="3168253"/>
            <a:ext cx="4000500" cy="530423"/>
          </a:xfrm>
          <a:prstGeom prst="rect">
            <a:avLst/>
          </a:prstGeom>
          <a:solidFill>
            <a:srgbClr val="00D9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714875" y="3168253"/>
            <a:ext cx="21431" cy="530423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972050" y="3282553"/>
            <a:ext cx="3629025" cy="3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Inter"/>
                <a:ea typeface="Inter"/>
                <a:cs typeface="Inter"/>
                <a:sym typeface="Inter"/>
              </a:rPr>
              <a:t>Serviços:</a:t>
            </a: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 Validação de notas fiscais de serviços, verificação de códigos e conformidade operacional.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714875" y="3841552"/>
            <a:ext cx="4000500" cy="530423"/>
          </a:xfrm>
          <a:prstGeom prst="rect">
            <a:avLst/>
          </a:prstGeom>
          <a:solidFill>
            <a:srgbClr val="7B61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714875" y="3841552"/>
            <a:ext cx="21431" cy="530423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972050" y="3955852"/>
            <a:ext cx="3629025" cy="3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E8EDF5"/>
                </a:solidFill>
                <a:latin typeface="Inter"/>
                <a:ea typeface="Inter"/>
                <a:cs typeface="Inter"/>
                <a:sym typeface="Inter"/>
              </a:rPr>
              <a:t>Setor Público:</a:t>
            </a:r>
            <a:r>
              <a:rPr b="0" i="0" lang="en-US" sz="727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 Análise de despesas, conformidade com legislação específica, auditoria automatizada.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9" name="Google Shape;2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86571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428625" y="600075"/>
            <a:ext cx="828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8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6"/>
              <a:buFont typeface="Noto Sans"/>
              <a:buNone/>
            </a:pPr>
            <a:r>
              <a:rPr b="1" i="0" lang="en-US" sz="191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SICOF: Uma Solução Inovadora, Ética e Sustentável</a:t>
            </a:r>
            <a:endParaRPr b="0" i="0" sz="19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28625" y="1185863"/>
            <a:ext cx="5572125" cy="685800"/>
          </a:xfrm>
          <a:prstGeom prst="rect">
            <a:avLst/>
          </a:prstGeom>
          <a:solidFill>
            <a:srgbClr val="00D9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428625" y="1185863"/>
            <a:ext cx="28575" cy="685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00075" y="1357313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O SICOF demonstra o potencial transformador da Inteligência Artificial na automação e qualificação de processos fiscais, reduzindo o esforço manual, o tempo de processamento e o risco de erro humano.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28625" y="2085975"/>
            <a:ext cx="5572125" cy="526489"/>
          </a:xfrm>
          <a:prstGeom prst="rect">
            <a:avLst/>
          </a:prstGeom>
          <a:solidFill>
            <a:srgbClr val="7B61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28625" y="2085975"/>
            <a:ext cx="21431" cy="526489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542925" y="2200275"/>
            <a:ext cx="171450" cy="1714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542925" y="2200275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1232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584"/>
              <a:buFont typeface="Noto Sans"/>
              <a:buNone/>
            </a:pPr>
            <a:r>
              <a:rPr b="1" i="0" lang="en-US" sz="584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828675" y="2200275"/>
            <a:ext cx="505777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Noto Sans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Valor Operacional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28675" y="2368153"/>
            <a:ext cx="5057775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74"/>
              <a:buFont typeface="Noto Sans"/>
              <a:buNone/>
            </a:pPr>
            <a:r>
              <a:rPr b="0" i="0" lang="en-US" sz="674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Velocidade, precisão e rastreabilidade na classificação e análise de notas fiscais.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28625" y="2869639"/>
            <a:ext cx="5572125" cy="526489"/>
          </a:xfrm>
          <a:prstGeom prst="rect">
            <a:avLst/>
          </a:prstGeom>
          <a:solidFill>
            <a:srgbClr val="7B61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28625" y="2869639"/>
            <a:ext cx="21431" cy="526489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542925" y="2983939"/>
            <a:ext cx="171450" cy="1714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542925" y="2983939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1232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584"/>
              <a:buFont typeface="Noto Sans"/>
              <a:buNone/>
            </a:pPr>
            <a:r>
              <a:rPr b="1" i="0" lang="en-US" sz="584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28675" y="2983939"/>
            <a:ext cx="505777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Noto Sans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Valor Estratégico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828675" y="3151817"/>
            <a:ext cx="5057775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74"/>
              <a:buFont typeface="Noto Sans"/>
              <a:buNone/>
            </a:pPr>
            <a:r>
              <a:rPr b="0" i="0" lang="en-US" sz="674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Inteligência fiscal, transparência e suporte à tomada de decisão em tempo real.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28625" y="3653303"/>
            <a:ext cx="5572125" cy="526489"/>
          </a:xfrm>
          <a:prstGeom prst="rect">
            <a:avLst/>
          </a:prstGeom>
          <a:solidFill>
            <a:srgbClr val="7B61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428625" y="3653303"/>
            <a:ext cx="21431" cy="526489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542925" y="3767603"/>
            <a:ext cx="171450" cy="17145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542925" y="3767603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1232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584"/>
              <a:buFont typeface="Noto Sans"/>
              <a:buNone/>
            </a:pPr>
            <a:r>
              <a:rPr b="1" i="0" lang="en-US" sz="584" u="none" cap="none" strike="noStrike">
                <a:solidFill>
                  <a:srgbClr val="0A1628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28675" y="3767603"/>
            <a:ext cx="505777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Noto Sans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Sustentabilidade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828675" y="3935481"/>
            <a:ext cx="5057775" cy="13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674"/>
              <a:buFont typeface="Noto Sans"/>
              <a:buNone/>
            </a:pPr>
            <a:r>
              <a:rPr b="0" i="0" lang="en-US" sz="674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Arquitetura modular e abordagem híbrida garantem evolução conforme mudanças legais e de negócio.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28625" y="4508404"/>
            <a:ext cx="5572125" cy="857250"/>
          </a:xfrm>
          <a:prstGeom prst="rect">
            <a:avLst/>
          </a:prstGeom>
          <a:solidFill>
            <a:srgbClr val="00D9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28625" y="4508404"/>
            <a:ext cx="28575" cy="85725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600075" y="4679854"/>
            <a:ext cx="52292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Ao integrar modelos de aprendizado de máquina supervisionado com modelos semânticos de linguagem natural, o SICOF estabelece um marco na transformação digital do setor contábil e financeiro brasileiro.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0543" y="1293164"/>
            <a:ext cx="2110957" cy="211095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/>
          <p:nvPr/>
        </p:nvSpPr>
        <p:spPr>
          <a:xfrm>
            <a:off x="6753255" y="3552609"/>
            <a:ext cx="18453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5729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650"/>
              <a:buFont typeface="Spline Sans"/>
              <a:buNone/>
            </a:pPr>
            <a:r>
              <a:rPr b="1" i="0" lang="en-US" sz="46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SICOF</a:t>
            </a:r>
            <a:endParaRPr b="0" i="0" sz="4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1277" y="4247282"/>
            <a:ext cx="1069508" cy="10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/>
          <p:nvPr/>
        </p:nvSpPr>
        <p:spPr>
          <a:xfrm>
            <a:off x="6801820" y="4690174"/>
            <a:ext cx="552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451253" y="523650"/>
            <a:ext cx="68502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6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Noto Sans"/>
              <a:buNone/>
            </a:pPr>
            <a:r>
              <a:rPr b="1" i="0" lang="en-US" sz="223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Contato e Repositório do Projeto</a:t>
            </a:r>
            <a:endParaRPr b="0" i="0" sz="22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842557" y="1183714"/>
            <a:ext cx="5458857" cy="1714500"/>
          </a:xfrm>
          <a:prstGeom prst="rect">
            <a:avLst/>
          </a:prstGeom>
          <a:solidFill>
            <a:srgbClr val="00D9FF">
              <a:alpha val="2745"/>
            </a:srgbClr>
          </a:solidFill>
          <a:ln cap="flat" cmpd="sng" w="9525">
            <a:solidFill>
              <a:srgbClr val="00D9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2042582" y="1398026"/>
            <a:ext cx="5058807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1232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584"/>
              <a:buFont typeface="Noto Sans"/>
              <a:buNone/>
            </a:pPr>
            <a:r>
              <a:rPr b="1" i="0" lang="en-US" sz="58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Grupo de Desenvolvimento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2042582" y="1598051"/>
            <a:ext cx="50588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Noto Sans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autonomia (3)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042582" y="2055251"/>
            <a:ext cx="50588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Líder:</a:t>
            </a:r>
            <a:r>
              <a:rPr b="0" i="0" lang="en-US" sz="834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 Cláudio Teixeira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2042582" y="2283851"/>
            <a:ext cx="50588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Jorge Marcondes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2042582" y="2512451"/>
            <a:ext cx="50588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Patrick Angrezani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842557" y="3062520"/>
            <a:ext cx="5458857" cy="764381"/>
          </a:xfrm>
          <a:prstGeom prst="rect">
            <a:avLst/>
          </a:prstGeom>
          <a:solidFill>
            <a:srgbClr val="7B61FF">
              <a:alpha val="4705"/>
            </a:srgbClr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2014007" y="3248258"/>
            <a:ext cx="5115957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1232"/>
              </a:lnSpc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584"/>
              <a:buFont typeface="Noto Sans"/>
              <a:buNone/>
            </a:pPr>
            <a:r>
              <a:rPr b="1" i="0" lang="en-US" sz="584" u="none" cap="none" strike="noStrike">
                <a:solidFill>
                  <a:srgbClr val="7B61FF"/>
                </a:solidFill>
                <a:latin typeface="Noto Sans"/>
                <a:ea typeface="Noto Sans"/>
                <a:cs typeface="Noto Sans"/>
                <a:sym typeface="Noto Sans"/>
              </a:rPr>
              <a:t>Repositório GitHub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030262" y="3457212"/>
            <a:ext cx="308342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github.com/teixeiracec/I2A2_autonomIA_3/pull/2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231" y="4062645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/>
          <p:nvPr/>
        </p:nvSpPr>
        <p:spPr>
          <a:xfrm>
            <a:off x="3513051" y="4355539"/>
            <a:ext cx="354927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568"/>
              <a:buFont typeface="Noto Sans"/>
              <a:buNone/>
            </a:pPr>
            <a:r>
              <a:rPr b="0" i="0" lang="en-US" sz="568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Código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787" y="4062645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/>
          <p:nvPr/>
        </p:nvSpPr>
        <p:spPr>
          <a:xfrm>
            <a:off x="4011997" y="4355539"/>
            <a:ext cx="73276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568"/>
              <a:buFont typeface="Noto Sans"/>
              <a:buNone/>
            </a:pPr>
            <a:r>
              <a:rPr b="0" i="0" lang="en-US" sz="568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Documentação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8400" y="406264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4887637" y="4355539"/>
            <a:ext cx="744401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568"/>
              <a:buFont typeface="Noto Sans"/>
              <a:buNone/>
            </a:pPr>
            <a:r>
              <a:rPr b="0" i="0" lang="en-US" sz="568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Implementação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842557" y="4601998"/>
            <a:ext cx="5458857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780"/>
              <a:buFont typeface="Noto Sans"/>
              <a:buNone/>
            </a:pPr>
            <a:r>
              <a:rPr b="0" i="1" lang="en-US" sz="780" u="none" cap="none" strike="noStrike">
                <a:solidFill>
                  <a:srgbClr val="E8EDF5"/>
                </a:solidFill>
                <a:latin typeface="Noto Sans"/>
                <a:ea typeface="Noto Sans"/>
                <a:cs typeface="Noto Sans"/>
                <a:sym typeface="Noto Sans"/>
              </a:rPr>
              <a:t>Obrigado pela atenção! Explore nosso projeto e contribua para a transformação digital da gestão fiscal.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